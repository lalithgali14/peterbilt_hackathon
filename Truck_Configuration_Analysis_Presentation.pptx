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68" r:id="rId5"/>
    <p:sldId id="270" r:id="rId6"/>
    <p:sldId id="259" r:id="rId7"/>
    <p:sldId id="263" r:id="rId8"/>
    <p:sldId id="265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54"/>
    <p:restoredTop sz="94698"/>
  </p:normalViewPr>
  <p:slideViewPr>
    <p:cSldViewPr snapToGrid="0" snapToObjects="1">
      <p:cViewPr varScale="1">
        <p:scale>
          <a:sx n="134" d="100"/>
          <a:sy n="134" d="100"/>
        </p:scale>
        <p:origin x="17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8A7AF9-F101-4B89-BD61-2774C9C106EB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9D1E2DC-87C0-4568-94E1-15A43F35B9BF}">
      <dgm:prSet/>
      <dgm:spPr/>
      <dgm:t>
        <a:bodyPr/>
        <a:lstStyle/>
        <a:p>
          <a:r>
            <a:rPr lang="en-US"/>
            <a:t>Optimize configurations to minimize claims</a:t>
          </a:r>
        </a:p>
      </dgm:t>
    </dgm:pt>
    <dgm:pt modelId="{47E77076-9803-4877-8316-C9AFCF36DC80}" type="parTrans" cxnId="{3E2F3736-746D-40D8-9995-6C8A0D24F0DC}">
      <dgm:prSet/>
      <dgm:spPr/>
      <dgm:t>
        <a:bodyPr/>
        <a:lstStyle/>
        <a:p>
          <a:endParaRPr lang="en-US"/>
        </a:p>
      </dgm:t>
    </dgm:pt>
    <dgm:pt modelId="{B880DFDF-B1DF-4936-ACF1-3AEE8A3A6A41}" type="sibTrans" cxnId="{3E2F3736-746D-40D8-9995-6C8A0D24F0DC}">
      <dgm:prSet/>
      <dgm:spPr/>
      <dgm:t>
        <a:bodyPr/>
        <a:lstStyle/>
        <a:p>
          <a:endParaRPr lang="en-US"/>
        </a:p>
      </dgm:t>
    </dgm:pt>
    <dgm:pt modelId="{C5A4DF99-BBE4-47A7-AD7F-082B28232EF9}">
      <dgm:prSet/>
      <dgm:spPr/>
      <dgm:t>
        <a:bodyPr/>
        <a:lstStyle/>
        <a:p>
          <a:r>
            <a:rPr lang="en-US"/>
            <a:t>Investigate high-claim configurations for improvement</a:t>
          </a:r>
        </a:p>
      </dgm:t>
    </dgm:pt>
    <dgm:pt modelId="{1C3F2242-3F6F-4C20-A5F7-9540B2EB7610}" type="parTrans" cxnId="{E71596E7-E065-4003-BA1C-91A7DE67FF4F}">
      <dgm:prSet/>
      <dgm:spPr/>
      <dgm:t>
        <a:bodyPr/>
        <a:lstStyle/>
        <a:p>
          <a:endParaRPr lang="en-US"/>
        </a:p>
      </dgm:t>
    </dgm:pt>
    <dgm:pt modelId="{D97C0957-68F7-46B9-9EC7-61C3E89D3759}" type="sibTrans" cxnId="{E71596E7-E065-4003-BA1C-91A7DE67FF4F}">
      <dgm:prSet/>
      <dgm:spPr/>
      <dgm:t>
        <a:bodyPr/>
        <a:lstStyle/>
        <a:p>
          <a:endParaRPr lang="en-US"/>
        </a:p>
      </dgm:t>
    </dgm:pt>
    <dgm:pt modelId="{9DF73E06-9BCB-4C4A-B78D-88F720991445}">
      <dgm:prSet/>
      <dgm:spPr/>
      <dgm:t>
        <a:bodyPr/>
        <a:lstStyle/>
        <a:p>
          <a:r>
            <a:rPr lang="en-US" dirty="0"/>
            <a:t>Focus on effective parts to reduce claim costs</a:t>
          </a:r>
        </a:p>
      </dgm:t>
    </dgm:pt>
    <dgm:pt modelId="{2DCCBBFD-F93D-44A5-B7A5-DDFC6B24CBD6}" type="parTrans" cxnId="{29959A51-8A5E-431F-9FD0-8DB89EFDC93D}">
      <dgm:prSet/>
      <dgm:spPr/>
      <dgm:t>
        <a:bodyPr/>
        <a:lstStyle/>
        <a:p>
          <a:endParaRPr lang="en-US"/>
        </a:p>
      </dgm:t>
    </dgm:pt>
    <dgm:pt modelId="{BE38F1AD-08F5-49A6-AF62-30AD965E9D81}" type="sibTrans" cxnId="{29959A51-8A5E-431F-9FD0-8DB89EFDC93D}">
      <dgm:prSet/>
      <dgm:spPr/>
      <dgm:t>
        <a:bodyPr/>
        <a:lstStyle/>
        <a:p>
          <a:endParaRPr lang="en-US"/>
        </a:p>
      </dgm:t>
    </dgm:pt>
    <dgm:pt modelId="{31DBDE1B-E468-49D1-AA6D-F7351DF235E4}">
      <dgm:prSet/>
      <dgm:spPr/>
      <dgm:t>
        <a:bodyPr/>
        <a:lstStyle/>
        <a:p>
          <a:r>
            <a:rPr lang="en-US"/>
            <a:t>Potential Impact:</a:t>
          </a:r>
        </a:p>
      </dgm:t>
    </dgm:pt>
    <dgm:pt modelId="{7E256088-84A1-4807-920A-7374A4238524}" type="parTrans" cxnId="{A7829FD4-5BFA-4BDB-8716-F7D67DBBCB7D}">
      <dgm:prSet/>
      <dgm:spPr/>
      <dgm:t>
        <a:bodyPr/>
        <a:lstStyle/>
        <a:p>
          <a:endParaRPr lang="en-US"/>
        </a:p>
      </dgm:t>
    </dgm:pt>
    <dgm:pt modelId="{A97CEC32-2E1B-42AE-8FD9-8D2BA6D15236}" type="sibTrans" cxnId="{A7829FD4-5BFA-4BDB-8716-F7D67DBBCB7D}">
      <dgm:prSet/>
      <dgm:spPr/>
      <dgm:t>
        <a:bodyPr/>
        <a:lstStyle/>
        <a:p>
          <a:endParaRPr lang="en-US"/>
        </a:p>
      </dgm:t>
    </dgm:pt>
    <dgm:pt modelId="{53A22798-0C2A-4EBF-B602-CE5BF2AE8F96}">
      <dgm:prSet/>
      <dgm:spPr/>
      <dgm:t>
        <a:bodyPr/>
        <a:lstStyle/>
        <a:p>
          <a:r>
            <a:rPr lang="en-US"/>
            <a:t>Reduced warranty claims and enhanced vehicle reliability.</a:t>
          </a:r>
        </a:p>
      </dgm:t>
    </dgm:pt>
    <dgm:pt modelId="{ADC18934-2276-4E26-8DFC-773DD8B17734}" type="parTrans" cxnId="{0FA5620A-09DD-44AE-9779-499AD42F12A0}">
      <dgm:prSet/>
      <dgm:spPr/>
      <dgm:t>
        <a:bodyPr/>
        <a:lstStyle/>
        <a:p>
          <a:endParaRPr lang="en-US"/>
        </a:p>
      </dgm:t>
    </dgm:pt>
    <dgm:pt modelId="{775E0635-3E93-4F76-8E0A-BEB4B4E61F9C}" type="sibTrans" cxnId="{0FA5620A-09DD-44AE-9779-499AD42F12A0}">
      <dgm:prSet/>
      <dgm:spPr/>
      <dgm:t>
        <a:bodyPr/>
        <a:lstStyle/>
        <a:p>
          <a:endParaRPr lang="en-US"/>
        </a:p>
      </dgm:t>
    </dgm:pt>
    <dgm:pt modelId="{EBB7A4DB-A9EA-3F45-AD36-BD7CD0DF4EC7}" type="pres">
      <dgm:prSet presAssocID="{128A7AF9-F101-4B89-BD61-2774C9C106EB}" presName="diagram" presStyleCnt="0">
        <dgm:presLayoutVars>
          <dgm:dir/>
          <dgm:resizeHandles val="exact"/>
        </dgm:presLayoutVars>
      </dgm:prSet>
      <dgm:spPr/>
    </dgm:pt>
    <dgm:pt modelId="{E5278D42-3F8C-B948-A8C0-C6729D56FFCF}" type="pres">
      <dgm:prSet presAssocID="{09D1E2DC-87C0-4568-94E1-15A43F35B9BF}" presName="node" presStyleLbl="node1" presStyleIdx="0" presStyleCnt="5">
        <dgm:presLayoutVars>
          <dgm:bulletEnabled val="1"/>
        </dgm:presLayoutVars>
      </dgm:prSet>
      <dgm:spPr/>
    </dgm:pt>
    <dgm:pt modelId="{7B5954E4-C127-4B48-859D-01712BBF2A6F}" type="pres">
      <dgm:prSet presAssocID="{B880DFDF-B1DF-4936-ACF1-3AEE8A3A6A41}" presName="sibTrans" presStyleCnt="0"/>
      <dgm:spPr/>
    </dgm:pt>
    <dgm:pt modelId="{1568F5F5-7CB9-AE46-B6C2-E656947B5AA5}" type="pres">
      <dgm:prSet presAssocID="{C5A4DF99-BBE4-47A7-AD7F-082B28232EF9}" presName="node" presStyleLbl="node1" presStyleIdx="1" presStyleCnt="5">
        <dgm:presLayoutVars>
          <dgm:bulletEnabled val="1"/>
        </dgm:presLayoutVars>
      </dgm:prSet>
      <dgm:spPr/>
    </dgm:pt>
    <dgm:pt modelId="{6934CD7F-0005-3243-8489-C9BA1ABFFD97}" type="pres">
      <dgm:prSet presAssocID="{D97C0957-68F7-46B9-9EC7-61C3E89D3759}" presName="sibTrans" presStyleCnt="0"/>
      <dgm:spPr/>
    </dgm:pt>
    <dgm:pt modelId="{D11AEA81-5EBC-9742-9CFC-FC96541C8F87}" type="pres">
      <dgm:prSet presAssocID="{9DF73E06-9BCB-4C4A-B78D-88F720991445}" presName="node" presStyleLbl="node1" presStyleIdx="2" presStyleCnt="5">
        <dgm:presLayoutVars>
          <dgm:bulletEnabled val="1"/>
        </dgm:presLayoutVars>
      </dgm:prSet>
      <dgm:spPr/>
    </dgm:pt>
    <dgm:pt modelId="{89B19C92-F2D8-9849-B59F-3C9D1FE23394}" type="pres">
      <dgm:prSet presAssocID="{BE38F1AD-08F5-49A6-AF62-30AD965E9D81}" presName="sibTrans" presStyleCnt="0"/>
      <dgm:spPr/>
    </dgm:pt>
    <dgm:pt modelId="{96834F25-04D6-BC46-B677-55C3DA504638}" type="pres">
      <dgm:prSet presAssocID="{31DBDE1B-E468-49D1-AA6D-F7351DF235E4}" presName="node" presStyleLbl="node1" presStyleIdx="3" presStyleCnt="5">
        <dgm:presLayoutVars>
          <dgm:bulletEnabled val="1"/>
        </dgm:presLayoutVars>
      </dgm:prSet>
      <dgm:spPr/>
    </dgm:pt>
    <dgm:pt modelId="{0446809C-18A1-B443-85A3-8266911B1230}" type="pres">
      <dgm:prSet presAssocID="{A97CEC32-2E1B-42AE-8FD9-8D2BA6D15236}" presName="sibTrans" presStyleCnt="0"/>
      <dgm:spPr/>
    </dgm:pt>
    <dgm:pt modelId="{721ABA62-1D11-3146-9A33-03A436C65CD8}" type="pres">
      <dgm:prSet presAssocID="{53A22798-0C2A-4EBF-B602-CE5BF2AE8F96}" presName="node" presStyleLbl="node1" presStyleIdx="4" presStyleCnt="5">
        <dgm:presLayoutVars>
          <dgm:bulletEnabled val="1"/>
        </dgm:presLayoutVars>
      </dgm:prSet>
      <dgm:spPr/>
    </dgm:pt>
  </dgm:ptLst>
  <dgm:cxnLst>
    <dgm:cxn modelId="{0FA5620A-09DD-44AE-9779-499AD42F12A0}" srcId="{128A7AF9-F101-4B89-BD61-2774C9C106EB}" destId="{53A22798-0C2A-4EBF-B602-CE5BF2AE8F96}" srcOrd="4" destOrd="0" parTransId="{ADC18934-2276-4E26-8DFC-773DD8B17734}" sibTransId="{775E0635-3E93-4F76-8E0A-BEB4B4E61F9C}"/>
    <dgm:cxn modelId="{3E2F3736-746D-40D8-9995-6C8A0D24F0DC}" srcId="{128A7AF9-F101-4B89-BD61-2774C9C106EB}" destId="{09D1E2DC-87C0-4568-94E1-15A43F35B9BF}" srcOrd="0" destOrd="0" parTransId="{47E77076-9803-4877-8316-C9AFCF36DC80}" sibTransId="{B880DFDF-B1DF-4936-ACF1-3AEE8A3A6A41}"/>
    <dgm:cxn modelId="{12E1684D-70B3-EB46-A326-D8D415474EC5}" type="presOf" srcId="{C5A4DF99-BBE4-47A7-AD7F-082B28232EF9}" destId="{1568F5F5-7CB9-AE46-B6C2-E656947B5AA5}" srcOrd="0" destOrd="0" presId="urn:microsoft.com/office/officeart/2005/8/layout/default"/>
    <dgm:cxn modelId="{29959A51-8A5E-431F-9FD0-8DB89EFDC93D}" srcId="{128A7AF9-F101-4B89-BD61-2774C9C106EB}" destId="{9DF73E06-9BCB-4C4A-B78D-88F720991445}" srcOrd="2" destOrd="0" parTransId="{2DCCBBFD-F93D-44A5-B7A5-DDFC6B24CBD6}" sibTransId="{BE38F1AD-08F5-49A6-AF62-30AD965E9D81}"/>
    <dgm:cxn modelId="{C5C09188-23D2-4F44-A1FB-AD9B3DCD205D}" type="presOf" srcId="{9DF73E06-9BCB-4C4A-B78D-88F720991445}" destId="{D11AEA81-5EBC-9742-9CFC-FC96541C8F87}" srcOrd="0" destOrd="0" presId="urn:microsoft.com/office/officeart/2005/8/layout/default"/>
    <dgm:cxn modelId="{C4BA6499-6E42-5647-AE13-62D251A6C8A2}" type="presOf" srcId="{09D1E2DC-87C0-4568-94E1-15A43F35B9BF}" destId="{E5278D42-3F8C-B948-A8C0-C6729D56FFCF}" srcOrd="0" destOrd="0" presId="urn:microsoft.com/office/officeart/2005/8/layout/default"/>
    <dgm:cxn modelId="{9B3E599B-CBBF-DB46-A9BC-76CF1C832B96}" type="presOf" srcId="{128A7AF9-F101-4B89-BD61-2774C9C106EB}" destId="{EBB7A4DB-A9EA-3F45-AD36-BD7CD0DF4EC7}" srcOrd="0" destOrd="0" presId="urn:microsoft.com/office/officeart/2005/8/layout/default"/>
    <dgm:cxn modelId="{5C98D4CC-C21D-3444-995A-98166A0F07FC}" type="presOf" srcId="{31DBDE1B-E468-49D1-AA6D-F7351DF235E4}" destId="{96834F25-04D6-BC46-B677-55C3DA504638}" srcOrd="0" destOrd="0" presId="urn:microsoft.com/office/officeart/2005/8/layout/default"/>
    <dgm:cxn modelId="{A7829FD4-5BFA-4BDB-8716-F7D67DBBCB7D}" srcId="{128A7AF9-F101-4B89-BD61-2774C9C106EB}" destId="{31DBDE1B-E468-49D1-AA6D-F7351DF235E4}" srcOrd="3" destOrd="0" parTransId="{7E256088-84A1-4807-920A-7374A4238524}" sibTransId="{A97CEC32-2E1B-42AE-8FD9-8D2BA6D15236}"/>
    <dgm:cxn modelId="{E71596E7-E065-4003-BA1C-91A7DE67FF4F}" srcId="{128A7AF9-F101-4B89-BD61-2774C9C106EB}" destId="{C5A4DF99-BBE4-47A7-AD7F-082B28232EF9}" srcOrd="1" destOrd="0" parTransId="{1C3F2242-3F6F-4C20-A5F7-9540B2EB7610}" sibTransId="{D97C0957-68F7-46B9-9EC7-61C3E89D3759}"/>
    <dgm:cxn modelId="{FFBF63F4-F7EF-F648-86B5-8E40CEFCF46E}" type="presOf" srcId="{53A22798-0C2A-4EBF-B602-CE5BF2AE8F96}" destId="{721ABA62-1D11-3146-9A33-03A436C65CD8}" srcOrd="0" destOrd="0" presId="urn:microsoft.com/office/officeart/2005/8/layout/default"/>
    <dgm:cxn modelId="{42763AE1-E90F-C24B-BD8C-E4CBFD25FF99}" type="presParOf" srcId="{EBB7A4DB-A9EA-3F45-AD36-BD7CD0DF4EC7}" destId="{E5278D42-3F8C-B948-A8C0-C6729D56FFCF}" srcOrd="0" destOrd="0" presId="urn:microsoft.com/office/officeart/2005/8/layout/default"/>
    <dgm:cxn modelId="{72418435-344C-1045-9A09-6C4DC6593E4D}" type="presParOf" srcId="{EBB7A4DB-A9EA-3F45-AD36-BD7CD0DF4EC7}" destId="{7B5954E4-C127-4B48-859D-01712BBF2A6F}" srcOrd="1" destOrd="0" presId="urn:microsoft.com/office/officeart/2005/8/layout/default"/>
    <dgm:cxn modelId="{203A457C-BBFF-C046-966A-F70D76C7F761}" type="presParOf" srcId="{EBB7A4DB-A9EA-3F45-AD36-BD7CD0DF4EC7}" destId="{1568F5F5-7CB9-AE46-B6C2-E656947B5AA5}" srcOrd="2" destOrd="0" presId="urn:microsoft.com/office/officeart/2005/8/layout/default"/>
    <dgm:cxn modelId="{6184E68F-2515-0F4E-8934-2F7D86023B27}" type="presParOf" srcId="{EBB7A4DB-A9EA-3F45-AD36-BD7CD0DF4EC7}" destId="{6934CD7F-0005-3243-8489-C9BA1ABFFD97}" srcOrd="3" destOrd="0" presId="urn:microsoft.com/office/officeart/2005/8/layout/default"/>
    <dgm:cxn modelId="{4E7995C7-E3C4-3945-8B32-ADE36E0979D6}" type="presParOf" srcId="{EBB7A4DB-A9EA-3F45-AD36-BD7CD0DF4EC7}" destId="{D11AEA81-5EBC-9742-9CFC-FC96541C8F87}" srcOrd="4" destOrd="0" presId="urn:microsoft.com/office/officeart/2005/8/layout/default"/>
    <dgm:cxn modelId="{8082114B-9FC4-9248-AF49-4202A5A74CEE}" type="presParOf" srcId="{EBB7A4DB-A9EA-3F45-AD36-BD7CD0DF4EC7}" destId="{89B19C92-F2D8-9849-B59F-3C9D1FE23394}" srcOrd="5" destOrd="0" presId="urn:microsoft.com/office/officeart/2005/8/layout/default"/>
    <dgm:cxn modelId="{8B34FB1F-F3E7-4D40-B2AA-7EEA6449CAA2}" type="presParOf" srcId="{EBB7A4DB-A9EA-3F45-AD36-BD7CD0DF4EC7}" destId="{96834F25-04D6-BC46-B677-55C3DA504638}" srcOrd="6" destOrd="0" presId="urn:microsoft.com/office/officeart/2005/8/layout/default"/>
    <dgm:cxn modelId="{51780A52-BD4F-E244-9674-C07CB4BA1AB3}" type="presParOf" srcId="{EBB7A4DB-A9EA-3F45-AD36-BD7CD0DF4EC7}" destId="{0446809C-18A1-B443-85A3-8266911B1230}" srcOrd="7" destOrd="0" presId="urn:microsoft.com/office/officeart/2005/8/layout/default"/>
    <dgm:cxn modelId="{C7D0B80B-1D19-E249-B90F-FEA36D5A4406}" type="presParOf" srcId="{EBB7A4DB-A9EA-3F45-AD36-BD7CD0DF4EC7}" destId="{721ABA62-1D11-3146-9A33-03A436C65CD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278D42-3F8C-B948-A8C0-C6729D56FFCF}">
      <dsp:nvSpPr>
        <dsp:cNvPr id="0" name=""/>
        <dsp:cNvSpPr/>
      </dsp:nvSpPr>
      <dsp:spPr>
        <a:xfrm>
          <a:off x="0" y="372452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Optimize configurations to minimize claims</a:t>
          </a:r>
        </a:p>
      </dsp:txBody>
      <dsp:txXfrm>
        <a:off x="0" y="372452"/>
        <a:ext cx="2464593" cy="1478756"/>
      </dsp:txXfrm>
    </dsp:sp>
    <dsp:sp modelId="{1568F5F5-7CB9-AE46-B6C2-E656947B5AA5}">
      <dsp:nvSpPr>
        <dsp:cNvPr id="0" name=""/>
        <dsp:cNvSpPr/>
      </dsp:nvSpPr>
      <dsp:spPr>
        <a:xfrm>
          <a:off x="2711053" y="372452"/>
          <a:ext cx="2464593" cy="14787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Investigate high-claim configurations for improvement</a:t>
          </a:r>
        </a:p>
      </dsp:txBody>
      <dsp:txXfrm>
        <a:off x="2711053" y="372452"/>
        <a:ext cx="2464593" cy="1478756"/>
      </dsp:txXfrm>
    </dsp:sp>
    <dsp:sp modelId="{D11AEA81-5EBC-9742-9CFC-FC96541C8F87}">
      <dsp:nvSpPr>
        <dsp:cNvPr id="0" name=""/>
        <dsp:cNvSpPr/>
      </dsp:nvSpPr>
      <dsp:spPr>
        <a:xfrm>
          <a:off x="5422106" y="372452"/>
          <a:ext cx="2464593" cy="14787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Focus on effective parts to reduce claim costs</a:t>
          </a:r>
        </a:p>
      </dsp:txBody>
      <dsp:txXfrm>
        <a:off x="5422106" y="372452"/>
        <a:ext cx="2464593" cy="1478756"/>
      </dsp:txXfrm>
    </dsp:sp>
    <dsp:sp modelId="{96834F25-04D6-BC46-B677-55C3DA504638}">
      <dsp:nvSpPr>
        <dsp:cNvPr id="0" name=""/>
        <dsp:cNvSpPr/>
      </dsp:nvSpPr>
      <dsp:spPr>
        <a:xfrm>
          <a:off x="1355526" y="2097667"/>
          <a:ext cx="2464593" cy="14787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Potential Impact:</a:t>
          </a:r>
        </a:p>
      </dsp:txBody>
      <dsp:txXfrm>
        <a:off x="1355526" y="2097667"/>
        <a:ext cx="2464593" cy="1478756"/>
      </dsp:txXfrm>
    </dsp:sp>
    <dsp:sp modelId="{721ABA62-1D11-3146-9A33-03A436C65CD8}">
      <dsp:nvSpPr>
        <dsp:cNvPr id="0" name=""/>
        <dsp:cNvSpPr/>
      </dsp:nvSpPr>
      <dsp:spPr>
        <a:xfrm>
          <a:off x="4066579" y="2097667"/>
          <a:ext cx="2464593" cy="147875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Reduced warranty claims and enhanced vehicle reliability.</a:t>
          </a:r>
        </a:p>
      </dsp:txBody>
      <dsp:txXfrm>
        <a:off x="4066579" y="2097667"/>
        <a:ext cx="2464593" cy="1478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andline.media/cummins-x15-recall-affects-thousands-of-kenworth-peterbilt-trucks/#:~:text=According%20to%20National%20Highway%20Traffic,Kenworth%20C500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andline.media/paccar-recalling-thousands-of-kenworth-peterbilt-trucks-over-rearview-mirror-issue/" TargetMode="External"/><Relationship Id="rId5" Type="http://schemas.openxmlformats.org/officeDocument/2006/relationships/hyperlink" Target="https://www.truckingdive.com/news/paccar-recalls-kenworth-peterbilt-2024-2025-models-steering-assembly/706521/" TargetMode="External"/><Relationship Id="rId4" Type="http://schemas.openxmlformats.org/officeDocument/2006/relationships/hyperlink" Target="https://www.truckingdive.com/news/paccar-recall-peterbilt-kenworth-2021-to-2024-models/71046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9144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6045" y="5469340"/>
            <a:ext cx="7261411" cy="739880"/>
          </a:xfrm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Phosphate Inline" panose="02000506050000020004" pitchFamily="2" charset="77"/>
                <a:cs typeface="Phosphate Inline" panose="02000506050000020004" pitchFamily="2" charset="77"/>
              </a:rPr>
              <a:t>Peterbilt</a:t>
            </a:r>
            <a:b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Phosphate Inline" panose="02000506050000020004" pitchFamily="2" charset="77"/>
                <a:cs typeface="Phosphate Inline" panose="02000506050000020004" pitchFamily="2" charset="77"/>
              </a:rPr>
            </a:b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Phosphate Inline" panose="02000506050000020004" pitchFamily="2" charset="77"/>
                <a:cs typeface="Phosphate Inline" panose="02000506050000020004" pitchFamily="2" charset="77"/>
              </a:rPr>
              <a:t>OPTIMIZATION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6033516"/>
            <a:ext cx="5486399" cy="365125"/>
          </a:xfrm>
        </p:spPr>
        <p:txBody>
          <a:bodyPr anchor="t">
            <a:normAutofit/>
          </a:bodyPr>
          <a:lstStyle/>
          <a:p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Team Sunrisers Hyderabad</a:t>
            </a:r>
          </a:p>
          <a:p>
            <a:endParaRPr lang="en-I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Fire engine parked inside a fire station">
            <a:extLst>
              <a:ext uri="{FF2B5EF4-FFF2-40B4-BE49-F238E27FC236}">
                <a16:creationId xmlns:a16="http://schemas.microsoft.com/office/drawing/2014/main" id="{37D73CF7-D0C6-24AF-3D02-BBBB597BC6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57"/>
          <a:stretch/>
        </p:blipFill>
        <p:spPr>
          <a:xfrm>
            <a:off x="20" y="10"/>
            <a:ext cx="9143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C198BFB9-91AF-4C36-5DAE-EC9B1B15B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802" y="1925024"/>
            <a:ext cx="5465859" cy="1512128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B73A829-2A08-F1AA-90C7-9BCC2EEF9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2" y="210433"/>
            <a:ext cx="5465859" cy="1512128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BBBF3623-258B-BF4B-FC82-17A03144D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0" y="5411738"/>
            <a:ext cx="5462366" cy="1235829"/>
          </a:xfrm>
          <a:prstGeom prst="rect">
            <a:avLst/>
          </a:prstGeom>
        </p:spPr>
      </p:pic>
      <p:pic>
        <p:nvPicPr>
          <p:cNvPr id="11" name="Picture 10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50841668-963E-0566-A8ED-3B0B7973AA0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41"/>
          <a:stretch/>
        </p:blipFill>
        <p:spPr>
          <a:xfrm>
            <a:off x="52310" y="3639615"/>
            <a:ext cx="5465859" cy="1512128"/>
          </a:xfrm>
          <a:prstGeom prst="rect">
            <a:avLst/>
          </a:prstGeom>
        </p:spPr>
      </p:pic>
      <p:pic>
        <p:nvPicPr>
          <p:cNvPr id="14" name="Picture 13" descr="Black and white paper collage">
            <a:extLst>
              <a:ext uri="{FF2B5EF4-FFF2-40B4-BE49-F238E27FC236}">
                <a16:creationId xmlns:a16="http://schemas.microsoft.com/office/drawing/2014/main" id="{74EBE3CD-D071-DBF6-4900-DBB4110FF0C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488" t="24452" r="3668" b="5260"/>
          <a:stretch/>
        </p:blipFill>
        <p:spPr>
          <a:xfrm>
            <a:off x="5614115" y="210433"/>
            <a:ext cx="3529885" cy="40100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17845E1-0E54-C952-442D-A1316B799FD8}"/>
              </a:ext>
            </a:extLst>
          </p:cNvPr>
          <p:cNvSpPr txBox="1">
            <a:spLocks/>
          </p:cNvSpPr>
          <p:nvPr/>
        </p:nvSpPr>
        <p:spPr>
          <a:xfrm>
            <a:off x="6191250" y="1192396"/>
            <a:ext cx="2952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halkduster" panose="03050602040202020205" pitchFamily="66" charset="77"/>
                <a:cs typeface="Phosphate Inline" panose="02000506050000020004" pitchFamily="2" charset="77"/>
              </a:rPr>
              <a:t>AIM :</a:t>
            </a:r>
          </a:p>
          <a:p>
            <a:endParaRPr lang="en-US" dirty="0">
              <a:latin typeface="Chalkduster" panose="03050602040202020205" pitchFamily="66" charset="77"/>
              <a:cs typeface="Phosphate Inline" panose="02000506050000020004" pitchFamily="2" charset="77"/>
            </a:endParaRPr>
          </a:p>
          <a:p>
            <a:r>
              <a:rPr lang="en-IN" sz="1800" dirty="0">
                <a:solidFill>
                  <a:schemeClr val="tx1">
                    <a:alpha val="80000"/>
                  </a:schemeClr>
                </a:solidFill>
                <a:latin typeface="Chalkduster" panose="03050602040202020205" pitchFamily="66" charset="77"/>
                <a:cs typeface="Phosphate Inline" panose="02000506050000020004" pitchFamily="2" charset="77"/>
              </a:rPr>
              <a:t>Identify configuration patterns that lead to warranty claims and reduce claims through optimized configurations.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659B15-9286-CA37-A5F6-0B9FCD3D64BB}"/>
              </a:ext>
            </a:extLst>
          </p:cNvPr>
          <p:cNvSpPr txBox="1"/>
          <p:nvPr/>
        </p:nvSpPr>
        <p:spPr>
          <a:xfrm>
            <a:off x="5561805" y="4442242"/>
            <a:ext cx="35298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The Peterbilt 567 and 579 models have been consistently involved in multiple recalls, indicating potential vulnerabilities in these specific configurations.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2012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 descr="A graph with a blue square and a yellow background&#10;&#10;Description automatically generated with medium confidence">
            <a:extLst>
              <a:ext uri="{FF2B5EF4-FFF2-40B4-BE49-F238E27FC236}">
                <a16:creationId xmlns:a16="http://schemas.microsoft.com/office/drawing/2014/main" id="{B8CAD60F-BC98-1A31-6311-FB5972945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21" y="337485"/>
            <a:ext cx="8099474" cy="5917051"/>
          </a:xfrm>
          <a:prstGeom prst="rect">
            <a:avLst/>
          </a:prstGeom>
        </p:spPr>
      </p:pic>
      <p:pic>
        <p:nvPicPr>
          <p:cNvPr id="7" name="Picture 6" descr="A graph of a distribution of claims&#10;&#10;Description automatically generated">
            <a:extLst>
              <a:ext uri="{FF2B5EF4-FFF2-40B4-BE49-F238E27FC236}">
                <a16:creationId xmlns:a16="http://schemas.microsoft.com/office/drawing/2014/main" id="{6599C3AB-B075-EC4B-8A19-A2727E3A8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74" y="368107"/>
            <a:ext cx="8929452" cy="577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7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72F04320-C63D-9148-E846-CB190FE4B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325" y="415310"/>
            <a:ext cx="8229600" cy="407634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0D76B2-5CEF-4466-CB8A-82DCF2629D6A}"/>
              </a:ext>
            </a:extLst>
          </p:cNvPr>
          <p:cNvSpPr txBox="1"/>
          <p:nvPr/>
        </p:nvSpPr>
        <p:spPr>
          <a:xfrm>
            <a:off x="695325" y="4676775"/>
            <a:ext cx="7753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Reliability score indicates higher average claim per truck for that option.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difference between option score and reliability score indicates the option might have greater chances to be the reason for claim.</a:t>
            </a:r>
          </a:p>
        </p:txBody>
      </p:sp>
    </p:spTree>
    <p:extLst>
      <p:ext uri="{BB962C8B-B14F-4D97-AF65-F5344CB8AC3E}">
        <p14:creationId xmlns:p14="http://schemas.microsoft.com/office/powerpoint/2010/main" val="1449175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green rectangular bars&#10;&#10;Description automatically generated">
            <a:extLst>
              <a:ext uri="{FF2B5EF4-FFF2-40B4-BE49-F238E27FC236}">
                <a16:creationId xmlns:a16="http://schemas.microsoft.com/office/drawing/2014/main" id="{F8E3ADE7-6377-DB47-B356-94022B9D84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537" y="1113632"/>
            <a:ext cx="4217287" cy="2572543"/>
          </a:xfrm>
          <a:prstGeom prst="rect">
            <a:avLst/>
          </a:prstGeom>
        </p:spPr>
      </p:pic>
      <p:pic>
        <p:nvPicPr>
          <p:cNvPr id="11" name="Picture 10" descr="A graph with red rectangular bars&#10;&#10;Description automatically generated">
            <a:extLst>
              <a:ext uri="{FF2B5EF4-FFF2-40B4-BE49-F238E27FC236}">
                <a16:creationId xmlns:a16="http://schemas.microsoft.com/office/drawing/2014/main" id="{830CFD65-D173-A2CA-8E57-8EADCA35E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13631"/>
            <a:ext cx="4217286" cy="25725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667F34-B332-43E3-0396-BBA91FBD4558}"/>
              </a:ext>
            </a:extLst>
          </p:cNvPr>
          <p:cNvSpPr txBox="1"/>
          <p:nvPr/>
        </p:nvSpPr>
        <p:spPr>
          <a:xfrm>
            <a:off x="476250" y="4191000"/>
            <a:ext cx="7962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Attribute 1 &amp; Attribute 4</a:t>
            </a:r>
            <a:r>
              <a:rPr lang="en-IN" dirty="0"/>
              <a:t>: Certain combinations show higher average predicted warranty costs, indicating possible configurations to avoid for cost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Attribute 2 &amp; Attribute 5</a:t>
            </a:r>
            <a:r>
              <a:rPr lang="en-IN" dirty="0"/>
              <a:t>: This pair similarly shows distinct cost patterns, with specific value combinations contributing more significantly to warranty costs.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76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500" dirty="0"/>
              <a:t>Key Findings - </a:t>
            </a:r>
            <a:r>
              <a:rPr lang="en-IN" sz="3200" dirty="0" err="1"/>
              <a:t>XGBoost</a:t>
            </a:r>
            <a:r>
              <a:rPr lang="en-IN" sz="3200" dirty="0"/>
              <a:t> model’s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41" y="2324912"/>
            <a:ext cx="4219724" cy="3613149"/>
          </a:xfrm>
        </p:spPr>
        <p:txBody>
          <a:bodyPr anchor="ctr">
            <a:normAutofit fontScale="92500"/>
          </a:bodyPr>
          <a:lstStyle/>
          <a:p>
            <a:r>
              <a:rPr lang="en-IN" sz="1700" dirty="0"/>
              <a:t> Accuracy: 84.4%%</a:t>
            </a:r>
          </a:p>
          <a:p>
            <a:pPr marL="0" indent="0">
              <a:buNone/>
            </a:pPr>
            <a:r>
              <a:rPr lang="en-IN" sz="1700" dirty="0"/>
              <a:t> Insight: model that can predict warranty costs for new vehicle configurations based on their attributes</a:t>
            </a:r>
          </a:p>
          <a:p>
            <a:pPr marL="0" indent="0">
              <a:buNone/>
            </a:pPr>
            <a:endParaRPr lang="en-IN" sz="1700" dirty="0"/>
          </a:p>
          <a:p>
            <a:pPr marL="0" indent="0">
              <a:buNone/>
            </a:pPr>
            <a:r>
              <a:rPr lang="en-IN" sz="1700" dirty="0"/>
              <a:t>Results : </a:t>
            </a:r>
            <a:br>
              <a:rPr lang="en-IN" sz="1700" dirty="0"/>
            </a:br>
            <a:r>
              <a:rPr lang="en-IN" sz="1700" dirty="0"/>
              <a:t>Class 0 (No Claims)- Precision and Recall: Both are very high, indicating the model is correctly identifying cases with no claims almost perfectly.</a:t>
            </a:r>
          </a:p>
          <a:p>
            <a:endParaRPr lang="en-IN" sz="1700" dirty="0"/>
          </a:p>
          <a:p>
            <a:r>
              <a:rPr lang="en-IN" sz="1700" dirty="0"/>
              <a:t>Impact:</a:t>
            </a:r>
          </a:p>
          <a:p>
            <a:pPr marL="0" indent="0">
              <a:buNone/>
            </a:pPr>
            <a:r>
              <a:rPr lang="en-IN" sz="1700" dirty="0"/>
              <a:t>Helps target configurations with higher warranty claims for proactive improvements.</a:t>
            </a:r>
          </a:p>
        </p:txBody>
      </p:sp>
      <p:pic>
        <p:nvPicPr>
          <p:cNvPr id="5" name="Picture 4" descr="A graph with numbers and labels&#10;&#10;Description automatically generated">
            <a:extLst>
              <a:ext uri="{FF2B5EF4-FFF2-40B4-BE49-F238E27FC236}">
                <a16:creationId xmlns:a16="http://schemas.microsoft.com/office/drawing/2014/main" id="{B2DD76FB-461F-C9DD-5E69-2AF79EB86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332" y="0"/>
            <a:ext cx="3992668" cy="3297474"/>
          </a:xfrm>
          <a:prstGeom prst="rect">
            <a:avLst/>
          </a:prstGeom>
        </p:spPr>
      </p:pic>
      <p:pic>
        <p:nvPicPr>
          <p:cNvPr id="7" name="Picture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C2E4F63-02D6-BC7E-CFA9-2212AB116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4007086"/>
            <a:ext cx="4282604" cy="21413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/>
              <a:t>Recommendations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80A52D-979C-93C7-D008-2F21D3CA8A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412263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292A1C0D-60CA-D641-46D4-76616F2A32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30" r="1" b="1"/>
          <a:stretch/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064451" y="791834"/>
            <a:ext cx="3020876" cy="9154947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4" y="0"/>
            <a:ext cx="2132551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9028" y="21736"/>
            <a:ext cx="2364646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5" y="5288433"/>
            <a:ext cx="9149779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5100" y="2905286"/>
            <a:ext cx="3866773" cy="408214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271" y="4121944"/>
            <a:ext cx="5945838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271" y="5737867"/>
            <a:ext cx="5956785" cy="6184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>
                <a:solidFill>
                  <a:srgbClr val="FFFFFF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989C-088A-80B5-A8BE-FEC9A0A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 dirty="0"/>
              <a:t>Reference </a:t>
            </a:r>
          </a:p>
        </p:txBody>
      </p:sp>
      <p:pic>
        <p:nvPicPr>
          <p:cNvPr id="12" name="Picture 11" descr="Large truck on a highway">
            <a:extLst>
              <a:ext uri="{FF2B5EF4-FFF2-40B4-BE49-F238E27FC236}">
                <a16:creationId xmlns:a16="http://schemas.microsoft.com/office/drawing/2014/main" id="{F2DC1996-F186-1468-5A9E-FFD47C4459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87" r="24051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27E22-2DCA-E309-3D7C-D92A238FB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90000"/>
              </a:lnSpc>
            </a:pPr>
            <a:r>
              <a:rPr lang="en-US" sz="2100" dirty="0"/>
              <a:t>Land Line Staff (October 28, 2024) Cummins X15 recall affects thousands of Kenworth, Peterbilt trucks. </a:t>
            </a:r>
            <a:r>
              <a:rPr lang="en-US" sz="2100" dirty="0">
                <a:hlinkClick r:id="rId3"/>
              </a:rPr>
              <a:t>https://landline.media/cummins-x15-recall-affects-thousands-of-kenworth-peterbilt-trucks/#:~:text=According%20to%20National%20Highway%20Traffic,Kenworth%20C500</a:t>
            </a:r>
            <a:endParaRPr lang="en-US" sz="2100" dirty="0"/>
          </a:p>
          <a:p>
            <a:pPr marL="0" indent="0">
              <a:lnSpc>
                <a:spcPct val="90000"/>
              </a:lnSpc>
              <a:buNone/>
            </a:pPr>
            <a:endParaRPr lang="en-US" sz="2100" dirty="0"/>
          </a:p>
          <a:p>
            <a:pPr>
              <a:lnSpc>
                <a:spcPct val="90000"/>
              </a:lnSpc>
            </a:pPr>
            <a:r>
              <a:rPr lang="en-US" sz="2100" dirty="0"/>
              <a:t>David Taube(March 15, 2024) Paccar recalls over 116K trucks due to shifter stalk issue. </a:t>
            </a:r>
            <a:r>
              <a:rPr lang="en-US" sz="2100" dirty="0">
                <a:hlinkClick r:id="rId4"/>
              </a:rPr>
              <a:t>https://www.truckingdive.com/news/paccar-recall-peterbilt-kenworth-2021-to-2024-models/710463/</a:t>
            </a:r>
            <a:br>
              <a:rPr lang="en-US" sz="2100" dirty="0"/>
            </a:br>
            <a:endParaRPr lang="en-US" sz="2100" dirty="0"/>
          </a:p>
          <a:p>
            <a:pPr>
              <a:lnSpc>
                <a:spcPct val="90000"/>
              </a:lnSpc>
            </a:pPr>
            <a:r>
              <a:rPr lang="en-US" sz="2100" dirty="0"/>
              <a:t>David Taube(Feb. 5, 2024) Paccar recalls over 47K new trucks due to potential loss-of-steering issue. </a:t>
            </a:r>
            <a:r>
              <a:rPr lang="en-US" sz="2100" dirty="0">
                <a:hlinkClick r:id="rId5"/>
              </a:rPr>
              <a:t>https://www.truckingdive.com/news/paccar-recalls-kenworth-peterbilt-2024-2025-models-steering-assembly/706521/</a:t>
            </a:r>
            <a:endParaRPr lang="en-US" sz="2100" dirty="0"/>
          </a:p>
          <a:p>
            <a:pPr>
              <a:lnSpc>
                <a:spcPct val="90000"/>
              </a:lnSpc>
            </a:pPr>
            <a:endParaRPr lang="en-US" sz="2100" dirty="0"/>
          </a:p>
          <a:p>
            <a:pPr>
              <a:lnSpc>
                <a:spcPct val="90000"/>
              </a:lnSpc>
            </a:pPr>
            <a:r>
              <a:rPr lang="en-US" sz="2100" dirty="0"/>
              <a:t>Land Line Staff(January 23, 2024) Paccar recalling thousands of Kenworth, Peterbilt trucks over rearview mirror issue. </a:t>
            </a:r>
            <a:r>
              <a:rPr lang="en-US" sz="2100" dirty="0">
                <a:hlinkClick r:id="rId6"/>
              </a:rPr>
              <a:t>https://landline.media/paccar-recalling-thousands-of-kenworth-peterbilt-trucks-over-rearview-mirror-issue/</a:t>
            </a:r>
            <a:endParaRPr lang="en-US" sz="2100" dirty="0"/>
          </a:p>
          <a:p>
            <a:pPr marL="0" indent="0">
              <a:lnSpc>
                <a:spcPct val="90000"/>
              </a:lnSpc>
              <a:buNone/>
            </a:pPr>
            <a:br>
              <a:rPr lang="en-US" sz="900" dirty="0"/>
            </a:b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96776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379</Words>
  <Application>Microsoft Macintosh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Chalkduster</vt:lpstr>
      <vt:lpstr>Phosphate Inline</vt:lpstr>
      <vt:lpstr>Office Theme</vt:lpstr>
      <vt:lpstr>Peterbilt OPTIMIZATION </vt:lpstr>
      <vt:lpstr>PowerPoint Presentation</vt:lpstr>
      <vt:lpstr>PowerPoint Presentation</vt:lpstr>
      <vt:lpstr>PowerPoint Presentation</vt:lpstr>
      <vt:lpstr>PowerPoint Presentation</vt:lpstr>
      <vt:lpstr>Key Findings - XGBoost model’s</vt:lpstr>
      <vt:lpstr>Recommendations</vt:lpstr>
      <vt:lpstr>Q&amp;A</vt:lpstr>
      <vt:lpstr>Reference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Lalith Gali</cp:lastModifiedBy>
  <cp:revision>6</cp:revision>
  <dcterms:created xsi:type="dcterms:W3CDTF">2013-01-27T09:14:16Z</dcterms:created>
  <dcterms:modified xsi:type="dcterms:W3CDTF">2024-11-09T15:57:01Z</dcterms:modified>
  <cp:category/>
</cp:coreProperties>
</file>